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am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1280160" cy="9110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11680" y="1371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A365D"/>
                </a:solidFill>
                <a:latin typeface="Segoe UI"/>
              </a:defRPr>
            </a:pPr>
            <a:r>
              <a:t>SMART INDIA HACKATHON 2026</a:t>
            </a:r>
          </a:p>
        </p:txBody>
      </p:sp>
      <p:pic>
        <p:nvPicPr>
          <p:cNvPr id="5" name="Picture 4" descr="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4864"/>
            <a:ext cx="1645920" cy="93220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1188720"/>
            <a:ext cx="11094415" cy="1234440"/>
          </a:xfrm>
          <a:prstGeom prst="roundRect">
            <a:avLst/>
          </a:prstGeom>
          <a:solidFill>
            <a:srgbClr val="F6FCF6"/>
          </a:solidFill>
          <a:ln w="19050">
            <a:solidFill>
              <a:srgbClr val="BED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>
              <a:defRPr sz="2600" b="1">
                <a:solidFill>
                  <a:srgbClr val="1A3C1E"/>
                </a:solidFill>
                <a:latin typeface="Segoe UI"/>
              </a:defRPr>
            </a:pPr>
            <a:r>
              <a:t>GeM-Compliflix</a:t>
            </a:r>
          </a:p>
          <a:p>
            <a:pPr>
              <a:defRPr sz="1300" b="1">
                <a:solidFill>
                  <a:srgbClr val="2E7D32"/>
                </a:solidFill>
                <a:latin typeface="Segoe UI"/>
              </a:defRPr>
            </a:pPr>
            <a:r>
              <a:t>AI-Powered Assistant for Smarter Compliance, Faster Verification, Better Decisions</a:t>
            </a:r>
          </a:p>
          <a:p>
            <a:pPr>
              <a:defRPr sz="1100">
                <a:solidFill>
                  <a:srgbClr val="19212C"/>
                </a:solidFill>
                <a:latin typeface="Segoe UI"/>
              </a:defRPr>
            </a:pPr>
            <a:r>
              <a:t>Core Idea: Transform manual, fragmented bid verification into an AI-assisted, evidence-driven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06040"/>
            <a:ext cx="539496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300" b="1">
                <a:solidFill>
                  <a:srgbClr val="1A3C1E"/>
                </a:solidFill>
                <a:latin typeface="Segoe UI"/>
              </a:defRPr>
            </a:pPr>
            <a:r>
              <a:t>🏛️ PROBLEM STATEMENT DETAILS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19212C"/>
                </a:solidFill>
                <a:latin typeface="Segoe UI"/>
              </a:rPr>
              <a:t>Problem Statement ID: </a:t>
            </a:r>
            <a:r>
              <a:rPr sz="1100" b="0">
                <a:solidFill>
                  <a:srgbClr val="2E5C2C"/>
                </a:solidFill>
                <a:latin typeface="Segoe UI"/>
              </a:rPr>
              <a:t>SIH26100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19212C"/>
                </a:solidFill>
                <a:latin typeface="Segoe UI"/>
              </a:rPr>
              <a:t>Problem Statement Title: </a:t>
            </a:r>
            <a:r>
              <a:rPr sz="1100" b="0">
                <a:solidFill>
                  <a:srgbClr val="555F6E"/>
                </a:solidFill>
                <a:latin typeface="Segoe UI"/>
              </a:rPr>
              <a:t>AI-Powered Integrated Bid Compliance Verification Platform for GeM Procurement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19212C"/>
                </a:solidFill>
                <a:latin typeface="Segoe UI"/>
              </a:rPr>
              <a:t>Theme: </a:t>
            </a:r>
            <a:r>
              <a:rPr sz="1100" b="0">
                <a:solidFill>
                  <a:srgbClr val="555F6E"/>
                </a:solidFill>
                <a:latin typeface="Segoe UI"/>
              </a:rPr>
              <a:t>Smart Automation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19212C"/>
                </a:solidFill>
                <a:latin typeface="Segoe UI"/>
              </a:rPr>
              <a:t>PS Category: </a:t>
            </a:r>
            <a:r>
              <a:rPr sz="1100" b="0">
                <a:solidFill>
                  <a:srgbClr val="555F6E"/>
                </a:solidFill>
                <a:latin typeface="Segoe UI"/>
              </a:rPr>
              <a:t>Software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19212C"/>
                </a:solidFill>
                <a:latin typeface="Segoe UI"/>
              </a:rPr>
              <a:t>Team ID: </a:t>
            </a:r>
            <a:r>
              <a:rPr sz="1100" b="0">
                <a:solidFill>
                  <a:srgbClr val="2E5C2C"/>
                </a:solidFill>
                <a:latin typeface="Segoe UI"/>
              </a:rPr>
              <a:t>T089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19212C"/>
                </a:solidFill>
                <a:latin typeface="Segoe UI"/>
              </a:rPr>
              <a:t>Team Name: </a:t>
            </a:r>
            <a:r>
              <a:rPr sz="1100" b="0">
                <a:solidFill>
                  <a:srgbClr val="2E5C2C"/>
                </a:solidFill>
                <a:latin typeface="Segoe UI"/>
              </a:rPr>
              <a:t>fulltime_coders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606040"/>
            <a:ext cx="5468112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300" b="1">
                <a:solidFill>
                  <a:srgbClr val="1A3C1E"/>
                </a:solidFill>
                <a:latin typeface="Segoe UI"/>
              </a:defRPr>
            </a:pPr>
            <a:r>
              <a:t>⚡ CAPABILITIES &amp; STAKEHOLDERS</a:t>
            </a:r>
          </a:p>
          <a:p>
            <a:pPr>
              <a:spcBef>
                <a:spcPts val="800"/>
              </a:spcBef>
              <a:defRPr b="1" sz="1100">
                <a:solidFill>
                  <a:srgbClr val="19212C"/>
                </a:solidFill>
              </a:defRPr>
            </a:pPr>
            <a:r>
              <a:t>End-to-End Workflow:</a:t>
            </a:r>
          </a:p>
          <a:p>
            <a:pPr>
              <a:spcBef>
                <a:spcPts val="300"/>
              </a:spcBef>
              <a:defRPr sz="1000" b="1">
                <a:solidFill>
                  <a:srgbClr val="2E7D32"/>
                </a:solidFill>
              </a:defRPr>
            </a:pPr>
            <a:r>
              <a:t>Bid Docs  ➔  AI/ML Verification  ➔  Compliance Analysis  ➔  Risk Detection  ➔  AI Summary  ➔  Decision Support</a:t>
            </a:r>
          </a:p>
          <a:p>
            <a:pPr>
              <a:spcBef>
                <a:spcPts val="1200"/>
              </a:spcBef>
              <a:defRPr b="1" sz="1100">
                <a:solidFill>
                  <a:srgbClr val="19212C"/>
                </a:solidFill>
              </a:defRPr>
            </a:pPr>
            <a:r>
              <a:t>Key User Personas:</a:t>
            </a:r>
          </a:p>
          <a:p>
            <a:pPr>
              <a:spcBef>
                <a:spcPts val="400"/>
              </a:spcBef>
              <a:defRPr sz="1050">
                <a:solidFill>
                  <a:srgbClr val="555F6E"/>
                </a:solidFill>
              </a:defRPr>
            </a:pPr>
            <a:r>
              <a:t>👤 Bidders: Submit documents, get automated compliance checks &amp; instant deficiency feedback.</a:t>
            </a:r>
          </a:p>
          <a:p>
            <a:pPr>
              <a:spcBef>
                <a:spcPts val="400"/>
              </a:spcBef>
              <a:defRPr sz="1050">
                <a:solidFill>
                  <a:srgbClr val="555F6E"/>
                </a:solidFill>
              </a:defRPr>
            </a:pPr>
            <a:r>
              <a:t>👨‍💼 Government Officers: Review compliance findings, interrogate bids with AI RAG, make informed awards.</a:t>
            </a:r>
          </a:p>
          <a:p>
            <a:pPr>
              <a:spcBef>
                <a:spcPts val="1400"/>
              </a:spcBef>
              <a:defRPr b="1" sz="1100">
                <a:solidFill>
                  <a:srgbClr val="19212C"/>
                </a:solidFill>
              </a:defRPr>
            </a:pPr>
            <a:r>
              <a:t>Core Technology Stack:</a:t>
            </a:r>
          </a:p>
          <a:p>
            <a:pPr>
              <a:spcBef>
                <a:spcPts val="300"/>
              </a:spcBef>
              <a:defRPr sz="1000" b="1">
                <a:solidFill>
                  <a:srgbClr val="1A3C1E"/>
                </a:solidFill>
              </a:defRPr>
            </a:pPr>
            <a:r>
              <a:t>AI/ML • OCR • NLP • RAG • Google Gemini LLM • Java Spring Boot • PostgreSQL + pgvector • Cloud Services</a:t>
            </a:r>
          </a:p>
        </p:txBody>
      </p:sp>
      <p:pic>
        <p:nvPicPr>
          <p:cNvPr id="9" name="Picture 8" descr="sih_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4937760"/>
            <a:ext cx="1280160" cy="14987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am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"/>
            <a:ext cx="1280160" cy="9110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91440"/>
            <a:ext cx="8412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100" b="1">
                <a:solidFill>
                  <a:srgbClr val="1A3C1E"/>
                </a:solidFill>
                <a:latin typeface="Segoe UI"/>
              </a:defRPr>
            </a:pPr>
            <a:r>
              <a:t>PROBLEM &amp; PROPOSED SOLUTION</a:t>
            </a:r>
          </a:p>
          <a:p>
            <a:pPr algn="ctr">
              <a:defRPr sz="1050">
                <a:solidFill>
                  <a:srgbClr val="555F6E"/>
                </a:solidFill>
                <a:latin typeface="Segoe UI"/>
              </a:defRPr>
            </a:pPr>
            <a:r>
              <a:t>Transforming manual, fragmented bid verification into an intelligent, evidence-driven workflow</a:t>
            </a:r>
          </a:p>
        </p:txBody>
      </p:sp>
      <p:pic>
        <p:nvPicPr>
          <p:cNvPr id="5" name="Picture 4" descr="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54864"/>
            <a:ext cx="1554480" cy="88041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1234440"/>
            <a:ext cx="5394960" cy="4937760"/>
          </a:xfrm>
          <a:prstGeom prst="roundRect">
            <a:avLst/>
          </a:prstGeom>
          <a:solidFill>
            <a:srgbClr val="FEF5F5"/>
          </a:solidFill>
          <a:ln w="19050">
            <a:solidFill>
              <a:srgbClr val="F5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029200" cy="411480"/>
          </a:xfrm>
          <a:prstGeom prst="roundRect">
            <a:avLst/>
          </a:prstGeom>
          <a:solidFill>
            <a:srgbClr val="B9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🔴 THE PROBLEM: Manual Bid Verification Bottlenecks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50292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 rIns="137160"/>
          <a:lstStyle/>
          <a:p>
            <a:pPr algn="ctr">
              <a:defRPr sz="1050" b="1">
                <a:solidFill>
                  <a:srgbClr val="B92B27"/>
                </a:solidFill>
                <a:latin typeface="Segoe UI"/>
              </a:defRPr>
            </a:pPr>
            <a:r>
              <a:t>1. Manual Document Review</a:t>
            </a:r>
          </a:p>
          <a:p>
            <a:pPr>
              <a:defRPr sz="950">
                <a:solidFill>
                  <a:srgbClr val="19212C"/>
                </a:solidFill>
                <a:latin typeface="Segoe UI"/>
              </a:defRPr>
            </a:pPr>
            <a:r>
              <a:t>Officers spend exhaustive hours sifting through multi-page PDFs, technical annexures, and financial declarations.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96896"/>
            <a:ext cx="50292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 rIns="137160"/>
          <a:lstStyle/>
          <a:p>
            <a:pPr algn="ctr">
              <a:defRPr sz="1050" b="1">
                <a:solidFill>
                  <a:srgbClr val="B92B27"/>
                </a:solidFill>
                <a:latin typeface="Segoe UI"/>
              </a:defRPr>
            </a:pPr>
            <a:r>
              <a:t>2. Fragmented Information</a:t>
            </a:r>
          </a:p>
          <a:p>
            <a:pPr>
              <a:defRPr sz="950">
                <a:solidFill>
                  <a:srgbClr val="19212C"/>
                </a:solidFill>
                <a:latin typeface="Segoe UI"/>
              </a:defRPr>
            </a:pPr>
            <a:r>
              <a:t>Critical bidder data is scattered across diverse formats, MCA21 portals, GST records, and bank guarantees.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50292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 rIns="137160"/>
          <a:lstStyle/>
          <a:p>
            <a:pPr algn="ctr">
              <a:defRPr sz="1050" b="1">
                <a:solidFill>
                  <a:srgbClr val="B92B27"/>
                </a:solidFill>
                <a:latin typeface="Segoe UI"/>
              </a:defRPr>
            </a:pPr>
            <a:r>
              <a:t>3. Difficult Cross-Verification</a:t>
            </a:r>
          </a:p>
          <a:p>
            <a:pPr>
              <a:defRPr sz="950">
                <a:solidFill>
                  <a:srgbClr val="19212C"/>
                </a:solidFill>
                <a:latin typeface="Segoe UI"/>
              </a:defRPr>
            </a:pPr>
            <a:r>
              <a:t>Tedious manual comparison between tender clauses and bidder claims with high cognitive fatigue.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50208"/>
            <a:ext cx="50292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 rIns="137160"/>
          <a:lstStyle/>
          <a:p>
            <a:pPr algn="ctr">
              <a:defRPr sz="1050" b="1">
                <a:solidFill>
                  <a:srgbClr val="B92B27"/>
                </a:solidFill>
                <a:latin typeface="Segoe UI"/>
              </a:defRPr>
            </a:pPr>
            <a:r>
              <a:t>4. Overlooked Discrepancies</a:t>
            </a:r>
          </a:p>
          <a:p>
            <a:pPr>
              <a:defRPr sz="950">
                <a:solidFill>
                  <a:srgbClr val="19212C"/>
                </a:solidFill>
                <a:latin typeface="Segoe UI"/>
              </a:defRPr>
            </a:pPr>
            <a:r>
              <a:t>High risk of missing forged certificates, expired licenses, or non-compliant technical deviations.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26864"/>
            <a:ext cx="50292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 rIns="137160"/>
          <a:lstStyle/>
          <a:p>
            <a:pPr algn="ctr">
              <a:defRPr sz="1050" b="1">
                <a:solidFill>
                  <a:srgbClr val="B92B27"/>
                </a:solidFill>
                <a:latin typeface="Segoe UI"/>
              </a:defRPr>
            </a:pPr>
            <a:r>
              <a:t>5. Delayed Procurement Cycles</a:t>
            </a:r>
          </a:p>
          <a:p>
            <a:pPr>
              <a:defRPr sz="950">
                <a:solidFill>
                  <a:srgbClr val="19212C"/>
                </a:solidFill>
                <a:latin typeface="Segoe UI"/>
              </a:defRPr>
            </a:pPr>
            <a:r>
              <a:t>Repetitive clarification queries stall tender awards, creating severe administrative backlogs.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394960"/>
            <a:ext cx="5029200" cy="594360"/>
          </a:xfrm>
          <a:prstGeom prst="rect">
            <a:avLst/>
          </a:prstGeom>
          <a:solidFill>
            <a:srgbClr val="FEE2E2"/>
          </a:solidFill>
          <a:ln>
            <a:solidFill>
              <a:srgbClr val="B92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b="1" sz="950">
                <a:solidFill>
                  <a:srgbClr val="B92B27"/>
                </a:solidFill>
              </a:defRPr>
            </a:pPr>
            <a:r>
              <a:t>🔴 PROBLEM FLOW:</a:t>
            </a:r>
          </a:p>
          <a:p>
            <a:pPr algn="ctr">
              <a:defRPr sz="900" b="1">
                <a:solidFill>
                  <a:srgbClr val="19212C"/>
                </a:solidFill>
              </a:defRPr>
            </a:pPr>
            <a:r>
              <a:t>Upload ➔ Manual Review ➔ Cross-Verification ➔ Overlooked Gaps ➔ Delays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5394960" cy="4937760"/>
          </a:xfrm>
          <a:prstGeom prst="roundRect">
            <a:avLst/>
          </a:prstGeom>
          <a:solidFill>
            <a:srgbClr val="F6FCF6"/>
          </a:solidFill>
          <a:ln w="19050">
            <a:solidFill>
              <a:srgbClr val="BED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371600"/>
            <a:ext cx="5029200" cy="4114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🟢 OUR SOLUTION: GeM-Compliflix AI Assistant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920240"/>
            <a:ext cx="50292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 rIns="137160"/>
          <a:lstStyle/>
          <a:p>
            <a:pPr algn="ctr">
              <a:defRPr sz="1050" b="1">
                <a:solidFill>
                  <a:srgbClr val="1A3C1E"/>
                </a:solidFill>
                <a:latin typeface="Segoe UI"/>
              </a:defRPr>
            </a:pPr>
            <a:r>
              <a:t>1. Automated Document Intelligence</a:t>
            </a:r>
          </a:p>
          <a:p>
            <a:pPr>
              <a:defRPr sz="950">
                <a:solidFill>
                  <a:srgbClr val="19212C"/>
                </a:solidFill>
                <a:latin typeface="Segoe UI"/>
              </a:defRPr>
            </a:pPr>
            <a:r>
              <a:t>Multi-engine OCR &amp; layout parsers extract structured entities from complex bids in seconds.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596896"/>
            <a:ext cx="50292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 rIns="137160"/>
          <a:lstStyle/>
          <a:p>
            <a:pPr algn="ctr">
              <a:defRPr sz="1050" b="1">
                <a:solidFill>
                  <a:srgbClr val="1A3C1E"/>
                </a:solidFill>
                <a:latin typeface="Segoe UI"/>
              </a:defRPr>
            </a:pPr>
            <a:r>
              <a:t>2. Automated AI/ML Verification</a:t>
            </a:r>
          </a:p>
          <a:p>
            <a:pPr>
              <a:defRPr sz="950">
                <a:solidFill>
                  <a:srgbClr val="19212C"/>
                </a:solidFill>
                <a:latin typeface="Segoe UI"/>
              </a:defRPr>
            </a:pPr>
            <a:r>
              <a:t>Cross-checks bidder identities, GSTN, financial criteria, and technical specs automatically.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273552"/>
            <a:ext cx="50292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 rIns="137160"/>
          <a:lstStyle/>
          <a:p>
            <a:pPr algn="ctr">
              <a:defRPr sz="1050" b="1">
                <a:solidFill>
                  <a:srgbClr val="1A3C1E"/>
                </a:solidFill>
                <a:latin typeface="Segoe UI"/>
              </a:defRPr>
            </a:pPr>
            <a:r>
              <a:t>3. Rules &amp; Compliance Engine</a:t>
            </a:r>
          </a:p>
          <a:p>
            <a:pPr>
              <a:defRPr sz="950">
                <a:solidFill>
                  <a:srgbClr val="19212C"/>
                </a:solidFill>
                <a:latin typeface="Segoe UI"/>
              </a:defRPr>
            </a:pPr>
            <a:r>
              <a:t>Identifies missing documents, clause violations, and eligibility mismatches instantaneously.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950208"/>
            <a:ext cx="50292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 rIns="137160"/>
          <a:lstStyle/>
          <a:p>
            <a:pPr algn="ctr">
              <a:defRPr sz="1050" b="1">
                <a:solidFill>
                  <a:srgbClr val="1A3C1E"/>
                </a:solidFill>
                <a:latin typeface="Segoe UI"/>
              </a:defRPr>
            </a:pPr>
            <a:r>
              <a:t>4. Risk Scoring &amp; Summary</a:t>
            </a:r>
          </a:p>
          <a:p>
            <a:pPr>
              <a:defRPr sz="950">
                <a:solidFill>
                  <a:srgbClr val="19212C"/>
                </a:solidFill>
                <a:latin typeface="Segoe UI"/>
              </a:defRPr>
            </a:pPr>
            <a:r>
              <a:t>Generates structured compliance scores, deficiency matrices, and highlighted risk indicators.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626864"/>
            <a:ext cx="50292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 rIns="137160"/>
          <a:lstStyle/>
          <a:p>
            <a:pPr algn="ctr">
              <a:defRPr sz="1050" b="1">
                <a:solidFill>
                  <a:srgbClr val="1A3C1E"/>
                </a:solidFill>
                <a:latin typeface="Segoe UI"/>
              </a:defRPr>
            </a:pPr>
            <a:r>
              <a:t>5. Evidence-Based RAG Copilot</a:t>
            </a:r>
          </a:p>
          <a:p>
            <a:pPr>
              <a:defRPr sz="950">
                <a:solidFill>
                  <a:srgbClr val="19212C"/>
                </a:solidFill>
                <a:latin typeface="Segoe UI"/>
              </a:defRPr>
            </a:pPr>
            <a:r>
              <a:t>Allows officers to interrogate tender requirements and bid submissions with direct source citations.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5394960"/>
            <a:ext cx="5029200" cy="594360"/>
          </a:xfrm>
          <a:prstGeom prst="rect">
            <a:avLst/>
          </a:prstGeom>
          <a:solidFill>
            <a:srgbClr val="E6F6E6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b="1" sz="950">
                <a:solidFill>
                  <a:srgbClr val="1A3C1E"/>
                </a:solidFill>
              </a:defRPr>
            </a:pPr>
            <a:r>
              <a:t>🟢 SOLUTION FLOW:</a:t>
            </a:r>
          </a:p>
          <a:p>
            <a:pPr algn="ctr">
              <a:defRPr sz="880" b="1">
                <a:solidFill>
                  <a:srgbClr val="19212C"/>
                </a:solidFill>
              </a:defRPr>
            </a:pPr>
            <a:r>
              <a:t>Upload ➔ AI/ML Verification ➔ Compliance Analysis ➔ Risk Summary ➔ AI Decision Support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263640"/>
            <a:ext cx="11094415" cy="438912"/>
          </a:xfrm>
          <a:prstGeom prst="rect">
            <a:avLst/>
          </a:prstGeom>
          <a:solidFill>
            <a:srgbClr val="1A3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⚖️ Bottom Line: From Manual Verification  ➔  Intelligent Compliance Assistance (Human-in-the-Loop Decision Authority)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888897099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1825935" cy="67329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am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"/>
            <a:ext cx="1280160" cy="9110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91440"/>
            <a:ext cx="8412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100" b="1">
                <a:solidFill>
                  <a:srgbClr val="1A3C1E"/>
                </a:solidFill>
                <a:latin typeface="Segoe UI"/>
              </a:defRPr>
            </a:pPr>
            <a:r>
              <a:t>FEASIBILITY, POTENTIAL CHALLENGES &amp; MITIGATION</a:t>
            </a:r>
          </a:p>
          <a:p>
            <a:pPr algn="ctr">
              <a:defRPr sz="1050">
                <a:solidFill>
                  <a:srgbClr val="555F6E"/>
                </a:solidFill>
                <a:latin typeface="Segoe UI"/>
              </a:defRPr>
            </a:pPr>
            <a:r>
              <a:t>Comprehensive evaluation of technical viability, operational risks, and robust engineering mitigations</a:t>
            </a:r>
          </a:p>
        </p:txBody>
      </p:sp>
      <p:pic>
        <p:nvPicPr>
          <p:cNvPr id="5" name="Picture 4" descr="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54864"/>
            <a:ext cx="1554480" cy="88041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1234440"/>
            <a:ext cx="3520440" cy="5303520"/>
          </a:xfrm>
          <a:prstGeom prst="roundRect">
            <a:avLst/>
          </a:prstGeom>
          <a:solidFill>
            <a:srgbClr val="F6FCF6"/>
          </a:solidFill>
          <a:ln w="19050">
            <a:solidFill>
              <a:srgbClr val="BED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154680" cy="411480"/>
          </a:xfrm>
          <a:prstGeom prst="roundRect">
            <a:avLst/>
          </a:prstGeom>
          <a:solidFill>
            <a:srgbClr val="1A3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</a:defRPr>
            </a:pPr>
            <a:r>
              <a:t>🟢 TECHNICAL FEASIBILITY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3154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>
              <a:defRPr b="1" sz="1000">
                <a:solidFill>
                  <a:srgbClr val="1A3C1E"/>
                </a:solidFill>
              </a:defRPr>
            </a:pPr>
            <a:r>
              <a:t>✓ Existing &amp; Proven Stack</a:t>
            </a:r>
          </a:p>
          <a:p>
            <a:pPr>
              <a:defRPr sz="900">
                <a:solidFill>
                  <a:srgbClr val="19212C"/>
                </a:solidFill>
              </a:defRPr>
            </a:pPr>
            <a:r>
              <a:t>Built on enterprise-tested technologies: Java Spring Boot, PostgreSQL with pgvector, Node.js, and Google Gemini LLMs.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3154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>
              <a:defRPr b="1" sz="1000">
                <a:solidFill>
                  <a:srgbClr val="1A3C1E"/>
                </a:solidFill>
              </a:defRPr>
            </a:pPr>
            <a:r>
              <a:t>✓ Modular Microservices</a:t>
            </a:r>
          </a:p>
          <a:p>
            <a:pPr>
              <a:defRPr sz="900">
                <a:solidFill>
                  <a:srgbClr val="19212C"/>
                </a:solidFill>
              </a:defRPr>
            </a:pPr>
            <a:r>
              <a:t>Decoupled backend, AI/ML, and RAG services communicate via clean REST APIs for independent deployment.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154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>
              <a:defRPr b="1" sz="1000">
                <a:solidFill>
                  <a:srgbClr val="1A3C1E"/>
                </a:solidFill>
              </a:defRPr>
            </a:pPr>
            <a:r>
              <a:t>✓ Cloud-Ready &amp; Elastic</a:t>
            </a:r>
          </a:p>
          <a:p>
            <a:pPr>
              <a:defRPr sz="900">
                <a:solidFill>
                  <a:srgbClr val="19212C"/>
                </a:solidFill>
              </a:defRPr>
            </a:pPr>
            <a:r>
              <a:t>Containerized with Docker; effortlessly handles traffic spikes during high-volume tender deadlines.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12080"/>
            <a:ext cx="3154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>
              <a:defRPr b="1" sz="1000">
                <a:solidFill>
                  <a:srgbClr val="1A3C1E"/>
                </a:solidFill>
              </a:defRPr>
            </a:pPr>
            <a:r>
              <a:t>✓ Human-in-the-Loop Design</a:t>
            </a:r>
          </a:p>
          <a:p>
            <a:pPr>
              <a:defRPr sz="900">
                <a:solidFill>
                  <a:srgbClr val="19212C"/>
                </a:solidFill>
              </a:defRPr>
            </a:pPr>
            <a:r>
              <a:t>AI never takes autonomous tender disqualification decisions; acts purely as an evidence-driven copilot.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234440"/>
            <a:ext cx="3520440" cy="5303520"/>
          </a:xfrm>
          <a:prstGeom prst="roundRect">
            <a:avLst/>
          </a:prstGeom>
          <a:solidFill>
            <a:srgbClr val="FEF5F5"/>
          </a:solidFill>
          <a:ln w="19050">
            <a:solidFill>
              <a:srgbClr val="F5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07992" y="1371600"/>
            <a:ext cx="3154680" cy="411480"/>
          </a:xfrm>
          <a:prstGeom prst="roundRect">
            <a:avLst/>
          </a:prstGeom>
          <a:solidFill>
            <a:srgbClr val="B9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</a:defRPr>
            </a:pPr>
            <a:r>
              <a:t>⚠️ POTENTIAL CHALLENGES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07992" y="1920240"/>
            <a:ext cx="3154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>
              <a:defRPr b="1" sz="1000">
                <a:solidFill>
                  <a:srgbClr val="B92B27"/>
                </a:solidFill>
              </a:defRPr>
            </a:pPr>
            <a:r>
              <a:t>⚠ Document Format Variability</a:t>
            </a:r>
          </a:p>
          <a:p>
            <a:pPr>
              <a:defRPr sz="900">
                <a:solidFill>
                  <a:srgbClr val="19212C"/>
                </a:solidFill>
              </a:defRPr>
            </a:pPr>
            <a:r>
              <a:t>Scanned PDFs, skewed orientations, low-DPI scans, and complex multi-column tables.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07992" y="3017520"/>
            <a:ext cx="3154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>
              <a:defRPr b="1" sz="1000">
                <a:solidFill>
                  <a:srgbClr val="B92B27"/>
                </a:solidFill>
              </a:defRPr>
            </a:pPr>
            <a:r>
              <a:t>⚠ AI Accuracy &amp; Hallucination</a:t>
            </a:r>
          </a:p>
          <a:p>
            <a:pPr>
              <a:defRPr sz="900">
                <a:solidFill>
                  <a:srgbClr val="19212C"/>
                </a:solidFill>
              </a:defRPr>
            </a:pPr>
            <a:r>
              <a:t>Risk of LLMs producing inaccurate conclusions on critical legal or financial compliance clauses.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4114800"/>
            <a:ext cx="3154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>
              <a:defRPr b="1" sz="1000">
                <a:solidFill>
                  <a:srgbClr val="B92B27"/>
                </a:solidFill>
              </a:defRPr>
            </a:pPr>
            <a:r>
              <a:t>⚠ Procurement Data Security</a:t>
            </a:r>
          </a:p>
          <a:p>
            <a:pPr>
              <a:defRPr sz="900">
                <a:solidFill>
                  <a:srgbClr val="19212C"/>
                </a:solidFill>
              </a:defRPr>
            </a:pPr>
            <a:r>
              <a:t>Confidentiality of commercial pricing, earnest money deposits (EMD), and bidder credentials.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07992" y="5212080"/>
            <a:ext cx="3154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>
              <a:defRPr b="1" sz="1000">
                <a:solidFill>
                  <a:srgbClr val="B92B27"/>
                </a:solidFill>
              </a:defRPr>
            </a:pPr>
            <a:r>
              <a:t>⚠ Changing Procurement Rules</a:t>
            </a:r>
          </a:p>
          <a:p>
            <a:pPr>
              <a:defRPr sz="900">
                <a:solidFill>
                  <a:srgbClr val="19212C"/>
                </a:solidFill>
              </a:defRPr>
            </a:pPr>
            <a:r>
              <a:t>GeM guidelines, General Financial Rules (GFR), and department criteria evolve over 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4" y="1234440"/>
            <a:ext cx="3520440" cy="53035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84464" y="1371600"/>
            <a:ext cx="315468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</a:defRPr>
            </a:pPr>
            <a:r>
              <a:t>🛡️ MITIGATION STRATEGIES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4" y="1920240"/>
            <a:ext cx="3154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>
              <a:defRPr b="1" sz="1000">
                <a:solidFill>
                  <a:srgbClr val="1E3A8A"/>
                </a:solidFill>
              </a:defRPr>
            </a:pPr>
            <a:r>
              <a:t>🛡 Hybrid Preprocessing Pipeline</a:t>
            </a:r>
          </a:p>
          <a:p>
            <a:pPr>
              <a:defRPr sz="900">
                <a:solidFill>
                  <a:srgbClr val="19212C"/>
                </a:solidFill>
              </a:defRPr>
            </a:pPr>
            <a:r>
              <a:t>Multi-stage OCR with contrast normalization, deskewing, and fallback layout-aware extractors.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84464" y="3017520"/>
            <a:ext cx="3154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>
              <a:defRPr b="1" sz="1000">
                <a:solidFill>
                  <a:srgbClr val="1E3A8A"/>
                </a:solidFill>
              </a:defRPr>
            </a:pPr>
            <a:r>
              <a:t>🛡 Strict Evidence-Grounded RAG</a:t>
            </a:r>
          </a:p>
          <a:p>
            <a:pPr>
              <a:defRPr sz="900">
                <a:solidFill>
                  <a:srgbClr val="19212C"/>
                </a:solidFill>
              </a:defRPr>
            </a:pPr>
            <a:r>
              <a:t>Answers anchored exclusively in retrieved vector chunks with exact document and page citations.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84464" y="4114800"/>
            <a:ext cx="3154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>
              <a:defRPr b="1" sz="1000">
                <a:solidFill>
                  <a:srgbClr val="1E3A8A"/>
                </a:solidFill>
              </a:defRPr>
            </a:pPr>
            <a:r>
              <a:t>🛡 Zero-Trust Security &amp; RBAC</a:t>
            </a:r>
          </a:p>
          <a:p>
            <a:pPr>
              <a:defRPr sz="900">
                <a:solidFill>
                  <a:srgbClr val="19212C"/>
                </a:solidFill>
              </a:defRPr>
            </a:pPr>
            <a:r>
              <a:t>Encrypted document storage (AES-256), JWT token authorization, and strict role access controls.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84464" y="5212080"/>
            <a:ext cx="3154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>
              <a:defRPr b="1" sz="1000">
                <a:solidFill>
                  <a:srgbClr val="1E3A8A"/>
                </a:solidFill>
              </a:defRPr>
            </a:pPr>
            <a:r>
              <a:t>🛡 Dynamic Knowledge Base</a:t>
            </a:r>
          </a:p>
          <a:p>
            <a:pPr>
              <a:defRPr sz="900">
                <a:solidFill>
                  <a:srgbClr val="19212C"/>
                </a:solidFill>
              </a:defRPr>
            </a:pPr>
            <a:r>
              <a:t>Hot-swappable compliance rules and regulatory vectors updatable without changing core codebase.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am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"/>
            <a:ext cx="1280160" cy="9110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91440"/>
            <a:ext cx="8412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100" b="1">
                <a:solidFill>
                  <a:srgbClr val="1A3C1E"/>
                </a:solidFill>
                <a:latin typeface="Segoe UI"/>
              </a:defRPr>
            </a:pPr>
            <a:r>
              <a:t>IMPACT, STAKEHOLDER BENEFITS &amp; VALUE CREATION</a:t>
            </a:r>
          </a:p>
          <a:p>
            <a:pPr algn="ctr">
              <a:defRPr sz="1050">
                <a:solidFill>
                  <a:srgbClr val="555F6E"/>
                </a:solidFill>
                <a:latin typeface="Segoe UI"/>
              </a:defRPr>
            </a:pPr>
            <a:r>
              <a:t>Quantifiable outcomes across government officers, participating bidders, and procurement bodies</a:t>
            </a:r>
          </a:p>
        </p:txBody>
      </p:sp>
      <p:pic>
        <p:nvPicPr>
          <p:cNvPr id="5" name="Picture 4" descr="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54864"/>
            <a:ext cx="1554480" cy="88041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1234440"/>
            <a:ext cx="3520440" cy="1828800"/>
          </a:xfrm>
          <a:prstGeom prst="roundRect">
            <a:avLst/>
          </a:prstGeom>
          <a:solidFill>
            <a:srgbClr val="F6FCF6"/>
          </a:solidFill>
          <a:ln w="19050">
            <a:solidFill>
              <a:srgbClr val="BED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b="1" sz="1150">
                <a:solidFill>
                  <a:srgbClr val="1A3C1E"/>
                </a:solidFill>
              </a:defRPr>
            </a:pPr>
            <a:r>
              <a:t>👨‍💼 Government Officers</a:t>
            </a:r>
          </a:p>
          <a:p>
            <a:pPr>
              <a:spcBef>
                <a:spcPts val="300"/>
              </a:spcBef>
              <a:defRPr sz="950">
                <a:solidFill>
                  <a:srgbClr val="19212C"/>
                </a:solidFill>
              </a:defRPr>
            </a:pPr>
            <a:r>
              <a:t>• Slashes manual document reading time by up to 80%.</a:t>
            </a:r>
          </a:p>
          <a:p>
            <a:pPr>
              <a:spcBef>
                <a:spcPts val="300"/>
              </a:spcBef>
              <a:defRPr sz="950">
                <a:solidFill>
                  <a:srgbClr val="19212C"/>
                </a:solidFill>
              </a:defRPr>
            </a:pPr>
            <a:r>
              <a:t>• Instant highlighting of compliance gaps &amp; missing annexures.</a:t>
            </a:r>
          </a:p>
          <a:p>
            <a:pPr>
              <a:spcBef>
                <a:spcPts val="300"/>
              </a:spcBef>
              <a:defRPr sz="950">
                <a:solidFill>
                  <a:srgbClr val="19212C"/>
                </a:solidFill>
              </a:defRPr>
            </a:pPr>
            <a:r>
              <a:t>• Interactive RAG copilot to query 500+ page tenders in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5112" y="1234440"/>
            <a:ext cx="3520440" cy="1828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b="1" sz="1150">
                <a:solidFill>
                  <a:srgbClr val="1E3A8A"/>
                </a:solidFill>
              </a:defRPr>
            </a:pPr>
            <a:r>
              <a:t>👤 Participating Bidders</a:t>
            </a:r>
          </a:p>
          <a:p>
            <a:pPr>
              <a:spcBef>
                <a:spcPts val="300"/>
              </a:spcBef>
              <a:defRPr sz="950">
                <a:solidFill>
                  <a:srgbClr val="19212C"/>
                </a:solidFill>
              </a:defRPr>
            </a:pPr>
            <a:r>
              <a:t>• Pre-submission compliance check minimizes accidental rejections.</a:t>
            </a:r>
          </a:p>
          <a:p>
            <a:pPr>
              <a:spcBef>
                <a:spcPts val="300"/>
              </a:spcBef>
              <a:defRPr sz="950">
                <a:solidFill>
                  <a:srgbClr val="19212C"/>
                </a:solidFill>
              </a:defRPr>
            </a:pPr>
            <a:r>
              <a:t>• Instant deficiency feedback to rectify missing attachments.</a:t>
            </a:r>
          </a:p>
          <a:p>
            <a:pPr>
              <a:spcBef>
                <a:spcPts val="300"/>
              </a:spcBef>
              <a:defRPr sz="950">
                <a:solidFill>
                  <a:srgbClr val="19212C"/>
                </a:solidFill>
              </a:defRPr>
            </a:pPr>
            <a:r>
              <a:t>• Transparent, level-playing field for MSMEs &amp; startups.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234440"/>
            <a:ext cx="3520440" cy="18288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b="1" sz="1150">
                <a:solidFill>
                  <a:srgbClr val="92400E"/>
                </a:solidFill>
              </a:defRPr>
            </a:pPr>
            <a:r>
              <a:t>🏛️ Government Departments</a:t>
            </a:r>
          </a:p>
          <a:p>
            <a:pPr>
              <a:spcBef>
                <a:spcPts val="300"/>
              </a:spcBef>
              <a:defRPr sz="950">
                <a:solidFill>
                  <a:srgbClr val="19212C"/>
                </a:solidFill>
              </a:defRPr>
            </a:pPr>
            <a:r>
              <a:t>• Standardized, objective evaluation across all ministries.</a:t>
            </a:r>
          </a:p>
          <a:p>
            <a:pPr>
              <a:spcBef>
                <a:spcPts val="300"/>
              </a:spcBef>
              <a:defRPr sz="950">
                <a:solidFill>
                  <a:srgbClr val="19212C"/>
                </a:solidFill>
              </a:defRPr>
            </a:pPr>
            <a:r>
              <a:t>• Eliminates procurement disputes and post-award litigation.</a:t>
            </a:r>
          </a:p>
          <a:p>
            <a:pPr>
              <a:spcBef>
                <a:spcPts val="300"/>
              </a:spcBef>
              <a:defRPr sz="950">
                <a:solidFill>
                  <a:srgbClr val="19212C"/>
                </a:solidFill>
              </a:defRPr>
            </a:pPr>
            <a:r>
              <a:t>• Significant administrative cost savings &amp; faster project rollouts.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46120"/>
            <a:ext cx="352044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b="1" sz="1050">
                <a:solidFill>
                  <a:srgbClr val="2E7D32"/>
                </a:solidFill>
              </a:defRPr>
            </a:pPr>
            <a:r>
              <a:t>⏱️ 80%+ Faster Verification</a:t>
            </a:r>
          </a:p>
          <a:p>
            <a:pPr>
              <a:spcBef>
                <a:spcPts val="300"/>
              </a:spcBef>
              <a:defRPr sz="919">
                <a:solidFill>
                  <a:srgbClr val="19212C"/>
                </a:solidFill>
              </a:defRPr>
            </a:pPr>
            <a:r>
              <a:t>Automates repetitive document reading, certificate checks, and compliance verification in seconds.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3246120"/>
            <a:ext cx="352044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b="1" sz="1050">
                <a:solidFill>
                  <a:srgbClr val="1A3C1E"/>
                </a:solidFill>
              </a:defRPr>
            </a:pPr>
            <a:r>
              <a:t>🎯 Elimination of Human Error</a:t>
            </a:r>
          </a:p>
          <a:p>
            <a:pPr>
              <a:spcBef>
                <a:spcPts val="300"/>
              </a:spcBef>
              <a:defRPr sz="919">
                <a:solidFill>
                  <a:srgbClr val="19212C"/>
                </a:solidFill>
              </a:defRPr>
            </a:pPr>
            <a:r>
              <a:t>Rigorous automated cross-checking prevents overlooked non-compliance or fraudulent documents.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3246120"/>
            <a:ext cx="352044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b="1" sz="1050">
                <a:solidFill>
                  <a:srgbClr val="1E3A8A"/>
                </a:solidFill>
              </a:defRPr>
            </a:pPr>
            <a:r>
              <a:t>🔍 100% Audit Transparency</a:t>
            </a:r>
          </a:p>
          <a:p>
            <a:pPr>
              <a:spcBef>
                <a:spcPts val="300"/>
              </a:spcBef>
              <a:defRPr sz="919">
                <a:solidFill>
                  <a:srgbClr val="19212C"/>
                </a:solidFill>
              </a:defRPr>
            </a:pPr>
            <a:r>
              <a:t>Every compliance flag is backed by exact document passages and immutable verification logs.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45152"/>
            <a:ext cx="352044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b="1" sz="1050">
                <a:solidFill>
                  <a:srgbClr val="B45309"/>
                </a:solidFill>
              </a:defRPr>
            </a:pPr>
            <a:r>
              <a:t>📊 Objective Risk Scoring</a:t>
            </a:r>
          </a:p>
          <a:p>
            <a:pPr>
              <a:spcBef>
                <a:spcPts val="300"/>
              </a:spcBef>
              <a:defRPr sz="919">
                <a:solidFill>
                  <a:srgbClr val="19212C"/>
                </a:solidFill>
              </a:defRPr>
            </a:pPr>
            <a:r>
              <a:t>Visual risk heatmaps and deficiency matrices empower officers to make swift, confident awards.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4645152"/>
            <a:ext cx="352044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b="1" sz="1050">
                <a:solidFill>
                  <a:srgbClr val="1A3C1E"/>
                </a:solidFill>
              </a:defRPr>
            </a:pPr>
            <a:r>
              <a:t>🤖 Evidence-Grounded AI Copilot</a:t>
            </a:r>
          </a:p>
          <a:p>
            <a:pPr>
              <a:spcBef>
                <a:spcPts val="300"/>
              </a:spcBef>
              <a:defRPr sz="919">
                <a:solidFill>
                  <a:srgbClr val="19212C"/>
                </a:solidFill>
              </a:defRPr>
            </a:pPr>
            <a:r>
              <a:t>RAG assistant answers complex tender questions with zero hallucination and source citations.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4" y="4645152"/>
            <a:ext cx="352044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b="1" sz="1050">
                <a:solidFill>
                  <a:srgbClr val="2E7D32"/>
                </a:solidFill>
              </a:defRPr>
            </a:pPr>
            <a:r>
              <a:t>📈 Scalable to Lakhs of Bids</a:t>
            </a:r>
          </a:p>
          <a:p>
            <a:pPr>
              <a:spcBef>
                <a:spcPts val="300"/>
              </a:spcBef>
              <a:defRPr sz="919">
                <a:solidFill>
                  <a:srgbClr val="19212C"/>
                </a:solidFill>
              </a:defRPr>
            </a:pPr>
            <a:r>
              <a:t>Cloud-native microservices architecture effortlessly scales across state and central portals.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172200"/>
            <a:ext cx="11094415" cy="457200"/>
          </a:xfrm>
          <a:prstGeom prst="rect">
            <a:avLst/>
          </a:prstGeom>
          <a:solidFill>
            <a:srgbClr val="1A3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🌱 Transformation: Reduced Administrative Effort  ➔  Faster Verification  ➔  Better Compliance  ➔  Smarter Public Decisions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am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"/>
            <a:ext cx="1280160" cy="9110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91440"/>
            <a:ext cx="8412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100" b="1">
                <a:solidFill>
                  <a:srgbClr val="1A3C1E"/>
                </a:solidFill>
                <a:latin typeface="Segoe UI"/>
              </a:defRPr>
            </a:pPr>
            <a:r>
              <a:t>RESEARCH FOUNDATION &amp; FUTURE SCOPE</a:t>
            </a:r>
          </a:p>
          <a:p>
            <a:pPr algn="ctr">
              <a:defRPr sz="1050">
                <a:solidFill>
                  <a:srgbClr val="555F6E"/>
                </a:solidFill>
                <a:latin typeface="Segoe UI"/>
              </a:defRPr>
            </a:pPr>
            <a:r>
              <a:t>Academic grounding in document intelligence paired with a high-impact product roadmap</a:t>
            </a:r>
          </a:p>
        </p:txBody>
      </p:sp>
      <p:pic>
        <p:nvPicPr>
          <p:cNvPr id="5" name="Picture 4" descr="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54864"/>
            <a:ext cx="1554480" cy="88041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1234440"/>
            <a:ext cx="5394960" cy="5303520"/>
          </a:xfrm>
          <a:prstGeom prst="roundRect">
            <a:avLst/>
          </a:prstGeom>
          <a:solidFill>
            <a:srgbClr val="F6FCF6"/>
          </a:solidFill>
          <a:ln w="19050">
            <a:solidFill>
              <a:srgbClr val="BED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029200" cy="411480"/>
          </a:xfrm>
          <a:prstGeom prst="roundRect">
            <a:avLst/>
          </a:prstGeom>
          <a:solidFill>
            <a:srgbClr val="1A3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</a:defRPr>
            </a:pPr>
            <a:r>
              <a:t>📚 RESEARCH &amp; REFERENCES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50292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54864"/>
          <a:lstStyle/>
          <a:p>
            <a:pPr algn="ctr">
              <a:defRPr b="1" sz="1000">
                <a:solidFill>
                  <a:srgbClr val="1A3C1E"/>
                </a:solidFill>
              </a:defRPr>
            </a:pPr>
            <a:r>
              <a:t>📖 Government Procurement Workflows</a:t>
            </a:r>
          </a:p>
          <a:p>
            <a:pPr>
              <a:defRPr sz="900">
                <a:solidFill>
                  <a:srgbClr val="19212C"/>
                </a:solidFill>
              </a:defRPr>
            </a:pPr>
            <a:r>
              <a:t>In-depth study of GeM guidelines, General Financial Rules (GFR 2017), and CVC public procurement manuals.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16352"/>
            <a:ext cx="50292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54864"/>
          <a:lstStyle/>
          <a:p>
            <a:pPr algn="ctr">
              <a:defRPr b="1" sz="1000">
                <a:solidFill>
                  <a:srgbClr val="1A3C1E"/>
                </a:solidFill>
              </a:defRPr>
            </a:pPr>
            <a:r>
              <a:t>📖 Document Intelligence &amp; OCR</a:t>
            </a:r>
          </a:p>
          <a:p>
            <a:pPr>
              <a:defRPr sz="900">
                <a:solidFill>
                  <a:srgbClr val="19212C"/>
                </a:solidFill>
              </a:defRPr>
            </a:pPr>
            <a:r>
              <a:t>State-of-the-art layout-aware document understanding and table extraction algorithms for complex government annexures.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12464"/>
            <a:ext cx="50292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54864"/>
          <a:lstStyle/>
          <a:p>
            <a:pPr algn="ctr">
              <a:defRPr b="1" sz="1000">
                <a:solidFill>
                  <a:srgbClr val="1A3C1E"/>
                </a:solidFill>
              </a:defRPr>
            </a:pPr>
            <a:r>
              <a:t>📖 Retrieval-Augmented Generation (RAG)</a:t>
            </a:r>
          </a:p>
          <a:p>
            <a:pPr>
              <a:defRPr sz="900">
                <a:solidFill>
                  <a:srgbClr val="19212C"/>
                </a:solidFill>
              </a:defRPr>
            </a:pPr>
            <a:r>
              <a:t>Dense vector embeddings with pgvector, document chunking strategies, and strict prompt grounding heuristics.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08576"/>
            <a:ext cx="50292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54864"/>
          <a:lstStyle/>
          <a:p>
            <a:pPr algn="ctr">
              <a:defRPr b="1" sz="1000">
                <a:solidFill>
                  <a:srgbClr val="1A3C1E"/>
                </a:solidFill>
              </a:defRPr>
            </a:pPr>
            <a:r>
              <a:t>📖 Compliance Automation Frameworks</a:t>
            </a:r>
          </a:p>
          <a:p>
            <a:pPr>
              <a:defRPr sz="900">
                <a:solidFill>
                  <a:srgbClr val="19212C"/>
                </a:solidFill>
              </a:defRPr>
            </a:pPr>
            <a:r>
              <a:t>Hybrid architecture combining deterministic rule verification with probabilistic LLM reasoning.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504688"/>
            <a:ext cx="50292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54864"/>
          <a:lstStyle/>
          <a:p>
            <a:pPr algn="ctr">
              <a:defRPr b="1" sz="1000">
                <a:solidFill>
                  <a:srgbClr val="1A3C1E"/>
                </a:solidFill>
              </a:defRPr>
            </a:pPr>
            <a:r>
              <a:t>📖 Human-in-the-Loop AI Ethics</a:t>
            </a:r>
          </a:p>
          <a:p>
            <a:pPr>
              <a:defRPr sz="900">
                <a:solidFill>
                  <a:srgbClr val="19212C"/>
                </a:solidFill>
              </a:defRPr>
            </a:pPr>
            <a:r>
              <a:t>UX design patterns ensuring AI empowers authorized officers while avoiding automation complacency.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234440"/>
            <a:ext cx="5394960" cy="53035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28232" y="1371600"/>
            <a:ext cx="502920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</a:defRPr>
            </a:pPr>
            <a:r>
              <a:t>🔮 FUTURE SCOPE &amp; ROADMAP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28232" y="1874519"/>
            <a:ext cx="502920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b="1" sz="980">
                <a:solidFill>
                  <a:srgbClr val="1E3A8A"/>
                </a:solidFill>
              </a:defRPr>
            </a:pPr>
            <a:r>
              <a:t>🚀 Multilingual Indian Language Support</a:t>
            </a:r>
          </a:p>
          <a:p>
            <a:pPr>
              <a:defRPr sz="880">
                <a:solidFill>
                  <a:srgbClr val="19212C"/>
                </a:solidFill>
              </a:defRPr>
            </a:pPr>
            <a:r>
              <a:t>Extend OCR and NLP document intelligence to Hindi and 12+ scheduled regional Indian languages.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28232" y="2615184"/>
            <a:ext cx="502920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b="1" sz="980">
                <a:solidFill>
                  <a:srgbClr val="1E3A8A"/>
                </a:solidFill>
              </a:defRPr>
            </a:pPr>
            <a:r>
              <a:t>🚀 AI Bid-Rigging &amp; Cartel Detection</a:t>
            </a:r>
          </a:p>
          <a:p>
            <a:pPr>
              <a:defRPr sz="880">
                <a:solidFill>
                  <a:srgbClr val="19212C"/>
                </a:solidFill>
              </a:defRPr>
            </a:pPr>
            <a:r>
              <a:t>Graph neural networks to detect collusion patterns, shared metadata, and bidding syndicates.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28232" y="3355848"/>
            <a:ext cx="502920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b="1" sz="980">
                <a:solidFill>
                  <a:srgbClr val="1E3A8A"/>
                </a:solidFill>
              </a:defRPr>
            </a:pPr>
            <a:r>
              <a:t>🚀 Direct Government API Integrations</a:t>
            </a:r>
          </a:p>
          <a:p>
            <a:pPr>
              <a:defRPr sz="880">
                <a:solidFill>
                  <a:srgbClr val="19212C"/>
                </a:solidFill>
              </a:defRPr>
            </a:pPr>
            <a:r>
              <a:t>Live automated verification pipelines with MCA21, GSTN, PAN, and DigiLocker APIs.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28232" y="4096512"/>
            <a:ext cx="502920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b="1" sz="980">
                <a:solidFill>
                  <a:srgbClr val="1E3A8A"/>
                </a:solidFill>
              </a:defRPr>
            </a:pPr>
            <a:r>
              <a:t>🚀 Continuous Compliance Rule Sync</a:t>
            </a:r>
          </a:p>
          <a:p>
            <a:pPr>
              <a:defRPr sz="880">
                <a:solidFill>
                  <a:srgbClr val="19212C"/>
                </a:solidFill>
              </a:defRPr>
            </a:pPr>
            <a:r>
              <a:t>Automated ingestion of new procurement notifications, amendments, and gazette circulars.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28232" y="4837176"/>
            <a:ext cx="502920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b="1" sz="980">
                <a:solidFill>
                  <a:srgbClr val="1E3A8A"/>
                </a:solidFill>
              </a:defRPr>
            </a:pPr>
            <a:r>
              <a:t>🚀 Executive Procurement Analytics</a:t>
            </a:r>
          </a:p>
          <a:p>
            <a:pPr>
              <a:defRPr sz="880">
                <a:solidFill>
                  <a:srgbClr val="19212C"/>
                </a:solidFill>
              </a:defRPr>
            </a:pPr>
            <a:r>
              <a:t>Department dashboards tracking vendor compliance trends, cycle times, and anomaly statistics.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28232" y="5577840"/>
            <a:ext cx="502920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b="1" sz="980">
                <a:solidFill>
                  <a:srgbClr val="1E3A8A"/>
                </a:solidFill>
              </a:defRPr>
            </a:pPr>
            <a:r>
              <a:t>🚀 Pan-India Multi-Tenant Scaling</a:t>
            </a:r>
          </a:p>
          <a:p>
            <a:pPr>
              <a:defRPr sz="880">
                <a:solidFill>
                  <a:srgbClr val="19212C"/>
                </a:solidFill>
              </a:defRPr>
            </a:pPr>
            <a:r>
              <a:t>Enterprise cloud deployment across central ministries, state procurement portals, and PSUs.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am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"/>
            <a:ext cx="1280160" cy="9110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91440"/>
            <a:ext cx="8412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100" b="1">
                <a:solidFill>
                  <a:srgbClr val="1A3C1E"/>
                </a:solidFill>
                <a:latin typeface="Segoe UI"/>
              </a:defRPr>
            </a:pPr>
            <a:r>
              <a:t>SMART INDIA HACKATHON 2026</a:t>
            </a:r>
          </a:p>
          <a:p>
            <a:pPr algn="ctr">
              <a:defRPr sz="1050">
                <a:solidFill>
                  <a:srgbClr val="555F6E"/>
                </a:solidFill>
                <a:latin typeface="Segoe UI"/>
              </a:defRPr>
            </a:pPr>
            <a:r>
              <a:t>AI-Powered Integrated Bid Compliance Verification Platform for GeM Procurement</a:t>
            </a:r>
          </a:p>
        </p:txBody>
      </p:sp>
      <p:pic>
        <p:nvPicPr>
          <p:cNvPr id="5" name="Picture 4" descr="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54864"/>
            <a:ext cx="1554480" cy="88041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371600" y="1280160"/>
            <a:ext cx="9448495" cy="2103120"/>
          </a:xfrm>
          <a:prstGeom prst="roundRect">
            <a:avLst/>
          </a:prstGeom>
          <a:solidFill>
            <a:srgbClr val="F6FCF6"/>
          </a:solidFill>
          <a:ln w="25400">
            <a:solidFill>
              <a:srgbClr val="BED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/>
          <a:lstStyle/>
          <a:p>
            <a:pPr algn="ctr">
              <a:defRPr sz="3200" b="1">
                <a:solidFill>
                  <a:srgbClr val="1A3C1E"/>
                </a:solidFill>
                <a:latin typeface="Segoe UI"/>
              </a:defRPr>
            </a:pPr>
            <a:r>
              <a:t>GeM-Compliflix</a:t>
            </a:r>
          </a:p>
          <a:p>
            <a:pPr algn="ctr">
              <a:defRPr sz="1400" b="1">
                <a:solidFill>
                  <a:srgbClr val="2E7D32"/>
                </a:solidFill>
                <a:latin typeface="Segoe UI"/>
              </a:defRPr>
            </a:pPr>
            <a:r>
              <a:t>AI-Powered Assistant for Smarter Compliance, Faster Verification, Better Decisions</a:t>
            </a:r>
          </a:p>
          <a:p>
            <a:pPr algn="ctr">
              <a:spcBef>
                <a:spcPts val="800"/>
              </a:spcBef>
              <a:defRPr sz="1100">
                <a:solidFill>
                  <a:srgbClr val="19212C"/>
                </a:solidFill>
                <a:latin typeface="Segoe UI"/>
              </a:defRPr>
            </a:pPr>
            <a:r>
              <a:t>Bridging cutting-edge Document Intelligence, Vector RAG, and automated compliance engines with human governance to deliver faster, error-free, and transparent public procurement.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566160"/>
            <a:ext cx="457200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b="1" sz="1300">
                <a:solidFill>
                  <a:srgbClr val="1A3C1E"/>
                </a:solidFill>
              </a:defRPr>
            </a:pPr>
            <a:r>
              <a:t>👥 TEAM DETAILS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9212C"/>
                </a:solidFill>
              </a:rPr>
              <a:t>Team Name: </a:t>
            </a:r>
            <a:r>
              <a:rPr sz="1000">
                <a:solidFill>
                  <a:srgbClr val="2E7D32"/>
                </a:solidFill>
              </a:rPr>
              <a:t>fulltime_coders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9212C"/>
                </a:solidFill>
              </a:rPr>
              <a:t>Team ID: </a:t>
            </a:r>
            <a:r>
              <a:rPr sz="1000">
                <a:solidFill>
                  <a:srgbClr val="2E7D32"/>
                </a:solidFill>
              </a:rPr>
              <a:t>T089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9212C"/>
                </a:solidFill>
              </a:rPr>
              <a:t>Problem Statement ID: </a:t>
            </a:r>
            <a:r>
              <a:rPr sz="1000">
                <a:solidFill>
                  <a:srgbClr val="555F6E"/>
                </a:solidFill>
              </a:rPr>
              <a:t>SIH26100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9212C"/>
                </a:solidFill>
              </a:rPr>
              <a:t>Theme: </a:t>
            </a:r>
            <a:r>
              <a:rPr sz="1000">
                <a:solidFill>
                  <a:srgbClr val="555F6E"/>
                </a:solidFill>
              </a:rPr>
              <a:t>Smart Automation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9212C"/>
                </a:solidFill>
              </a:rPr>
              <a:t>Category: </a:t>
            </a:r>
            <a:r>
              <a:rPr sz="1000">
                <a:solidFill>
                  <a:srgbClr val="555F6E"/>
                </a:solidFill>
              </a:rPr>
              <a:t>Software Edition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9212C"/>
                </a:solidFill>
              </a:rPr>
              <a:t>Platform: </a:t>
            </a:r>
            <a:r>
              <a:rPr sz="1000">
                <a:solidFill>
                  <a:srgbClr val="555F6E"/>
                </a:solidFill>
              </a:rPr>
              <a:t>Smart India Hackathon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566160"/>
            <a:ext cx="4602175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lIns="274320" rIns="274320"/>
          <a:lstStyle/>
          <a:p>
            <a:pPr algn="ctr">
              <a:defRPr sz="2200" b="1">
                <a:solidFill>
                  <a:srgbClr val="1A3C1E"/>
                </a:solidFill>
                <a:latin typeface="Segoe UI"/>
              </a:defRPr>
            </a:pPr>
            <a:r>
              <a:t>🎯 THANK YOU!</a:t>
            </a:r>
          </a:p>
          <a:p>
            <a:pPr algn="ctr">
              <a:spcBef>
                <a:spcPts val="800"/>
              </a:spcBef>
              <a:defRPr sz="1300" b="1">
                <a:solidFill>
                  <a:srgbClr val="2E7D32"/>
                </a:solidFill>
              </a:defRPr>
            </a:pPr>
            <a:r>
              <a:t>Questions &amp; Demonstration</a:t>
            </a:r>
          </a:p>
          <a:p>
            <a:pPr algn="ctr">
              <a:spcBef>
                <a:spcPts val="800"/>
              </a:spcBef>
              <a:defRPr sz="1050">
                <a:solidFill>
                  <a:srgbClr val="555F6E"/>
                </a:solidFill>
              </a:defRPr>
            </a:pPr>
            <a:r>
              <a:t>We welcome your queries, feedback, and discussion.</a:t>
            </a:r>
          </a:p>
          <a:p>
            <a:pPr algn="ctr">
              <a:spcBef>
                <a:spcPts val="1000"/>
              </a:spcBef>
              <a:defRPr sz="1000" b="1">
                <a:solidFill>
                  <a:srgbClr val="1A3C1E"/>
                </a:solidFill>
              </a:defRPr>
            </a:pPr>
            <a:r>
              <a:t>💻 Working Prototype &amp; AI Engine Ready for Live Evaluation</a:t>
            </a:r>
          </a:p>
        </p:txBody>
      </p:sp>
      <p:pic>
        <p:nvPicPr>
          <p:cNvPr id="9" name="Picture 8" descr="sih_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5120640"/>
            <a:ext cx="914400" cy="10705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